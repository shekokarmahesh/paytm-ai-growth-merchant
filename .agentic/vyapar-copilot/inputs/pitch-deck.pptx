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Team Xyz and the one-line pitch: Vyapar Copilot turns Paytm transaction data into growth actions a merchant approves with a voice note.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Paytm merchants already generate rich transaction data, but it is passive. Growth actions are reactive and gut-driven, and merchants have no time for dashboards. Ramesh is our persona.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features, one loop. Walk the judges through the demo: transactions stream in, the model predicts a slump, the copilot recommends a campaign, Ramesh approves by voice, and the campaign goes live with a Soundbox confirmation.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layers. The Data Science lead owns the predictive engine exposed as FastAPI endpoints; the Full-Stack AI lead owns the agentic brain and merchant interface. The LLM never guesses numbers; it calls the DS endpoints and executes through typed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edge: voice-first interaction, real models instead of prompts, and closed-loop execution grounded in Indian retail context, with the merchant approving every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Impact at Paytm scale: 1.57 crore device merchants can be reached through rails that already exist. Benefits flow to merchants, their customers, and Paytm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Freemium: Lite is free with every Soundbox to drive adoption; Pro is an indicative Rs 99 per month add-on. Four revenue streams, all riding rails Paytm already has: subscriptions, success fees, brand-funded offers, and financial services cross-sell.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vision line and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anner_rou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3474720" cy="91826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0" y="621792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00B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FOR INDIA AI HACKATHON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6858000" y="914400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Edition  ·  3 October 2026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48640" y="1828800"/>
            <a:ext cx="3246120" cy="365760"/>
          </a:xfrm>
          <a:prstGeom prst="roundRect">
            <a:avLst>
              <a:gd name="adj" fmla="val 50000"/>
            </a:avLst>
          </a:prstGeom>
          <a:solidFill>
            <a:srgbClr val="061A3A">
              <a:alpha val="0"/>
            </a:srgbClr>
          </a:solidFill>
          <a:ln w="15875">
            <a:solidFill>
              <a:srgbClr val="FF8A3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8288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1  ·  MERCHANT GROWTH AI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331720"/>
            <a:ext cx="7132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Vyapar </a:t>
            </a:r>
            <a:pPr indent="0" marL="0">
              <a:buNone/>
            </a:pPr>
            <a:r>
              <a:rPr lang="en-US" sz="5600" b="1" dirty="0">
                <a:solidFill>
                  <a:srgbClr val="00B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</a:t>
            </a:r>
            <a:endParaRPr lang="en-US" sz="5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38328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business partner for every Paytm merchant. It spots slow hours before they happen, prescribes margin-safe offers, and executes them on a single voice note.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8001000" y="1828800"/>
            <a:ext cx="3639312" cy="2148840"/>
          </a:xfrm>
          <a:prstGeom prst="roundRect">
            <a:avLst>
              <a:gd name="adj" fmla="val 6383"/>
            </a:avLst>
          </a:prstGeom>
          <a:solidFill>
            <a:srgbClr val="0B2A5B">
              <a:alpha val="70000"/>
            </a:srgbClr>
          </a:solidFill>
          <a:ln w="12700">
            <a:solidFill>
              <a:srgbClr val="2C5A9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321040" y="2057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B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XYZ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321040" y="24505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Mahesh Shekokar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8321040" y="28163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321040" y="3200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N Sreevarsan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8321040" y="3566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—  PROBLEM STATEMENT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9235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Merchants are data-rich, but insight-poor</a:t>
            </a:r>
            <a:endParaRPr lang="en-US" sz="3000" dirty="0"/>
          </a:p>
        </p:txBody>
      </p:sp>
      <p:pic>
        <p:nvPicPr>
          <p:cNvPr id="4" name="Image 0" descr="assets/banner_rou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1415" y="420624"/>
            <a:ext cx="1691640" cy="44705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Xyz   |   Vyapar Copilot   |   Paytm Build for India AI Hackathon — Mumbai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566928" cy="566928"/>
          </a:xfrm>
          <a:prstGeom prst="ellipse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03" y="1827703"/>
            <a:ext cx="294803" cy="29480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673352"/>
            <a:ext cx="5989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data sits idle</a:t>
            </a:r>
            <a:endParaRPr lang="en-US" sz="16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993392"/>
            <a:ext cx="5989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Soundbox, QR and card machines log thousands of data points every week, yet none of it becomes a business decision.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2606040"/>
            <a:ext cx="566928" cy="566928"/>
          </a:xfrm>
          <a:prstGeom prst="ellipse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703" y="2742103"/>
            <a:ext cx="294803" cy="29480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587752"/>
            <a:ext cx="5989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runs on gut feel</a:t>
            </a:r>
            <a:endParaRPr lang="en-US" sz="16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2907792"/>
            <a:ext cx="5989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Promotions, customer win-back and restocking are reactive, and usually start after sales have already dipped.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548640" y="3520440"/>
            <a:ext cx="566928" cy="566928"/>
          </a:xfrm>
          <a:prstGeom prst="ellipse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703" y="3656503"/>
            <a:ext cx="294803" cy="294803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502152"/>
            <a:ext cx="5989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time for dashboards</a:t>
            </a:r>
            <a:endParaRPr lang="en-US" sz="16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3822192"/>
            <a:ext cx="5989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shop owner at the counter will not open analytics software. Their workday runs on WhatsApp and voice notes.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548640" y="4434840"/>
            <a:ext cx="566928" cy="566928"/>
          </a:xfrm>
          <a:prstGeom prst="ellipse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703" y="4570903"/>
            <a:ext cx="294803" cy="294803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4416552"/>
            <a:ext cx="5989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Regulars are quietly drifting</a:t>
            </a:r>
            <a:endParaRPr lang="en-US" sz="16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4736592"/>
            <a:ext cx="5989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Quick-commerce apps pull loyal customers away, and the merchant notices only once they are gone.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548640" y="5440680"/>
            <a:ext cx="6766560" cy="640080"/>
          </a:xfrm>
          <a:prstGeom prst="roundRect">
            <a:avLst>
              <a:gd name="adj" fmla="val 17143"/>
            </a:avLst>
          </a:prstGeom>
          <a:solidFill>
            <a:srgbClr val="E1F4FC"/>
          </a:solidFill>
          <a:ln w="9525">
            <a:solidFill>
              <a:srgbClr val="B9E4F7"/>
            </a:solidFill>
            <a:prstDash val="solid"/>
          </a:ln>
        </p:spPr>
      </p:sp>
      <p:sp>
        <p:nvSpPr>
          <p:cNvPr id="24" name="Text 17"/>
          <p:cNvSpPr txBox="1"/>
          <p:nvPr/>
        </p:nvSpPr>
        <p:spPr>
          <a:xfrm>
            <a:off x="822960" y="544068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might we turn every Paytm transaction into a growth decision?</a:t>
            </a:r>
            <a:endParaRPr lang="en-US" sz="1500" dirty="0"/>
          </a:p>
        </p:txBody>
      </p:sp>
      <p:sp>
        <p:nvSpPr>
          <p:cNvPr id="25" name="Shape 18"/>
          <p:cNvSpPr/>
          <p:nvPr/>
        </p:nvSpPr>
        <p:spPr>
          <a:xfrm>
            <a:off x="7680960" y="1691640"/>
            <a:ext cx="3959352" cy="4389120"/>
          </a:xfrm>
          <a:prstGeom prst="roundRect">
            <a:avLst>
              <a:gd name="adj" fmla="val 3464"/>
            </a:avLst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2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7955280" y="1965960"/>
            <a:ext cx="566928" cy="56692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1343" y="2102023"/>
            <a:ext cx="294803" cy="294803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8686800" y="19842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B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OUR MERCHANT</a:t>
            </a:r>
            <a:endParaRPr lang="en-US" sz="1050" dirty="0"/>
          </a:p>
        </p:txBody>
      </p:sp>
      <p:sp>
        <p:nvSpPr>
          <p:cNvPr id="29" name="Text 21"/>
          <p:cNvSpPr txBox="1"/>
          <p:nvPr/>
        </p:nvSpPr>
        <p:spPr>
          <a:xfrm>
            <a:off x="8686800" y="220370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Ramesh Gupta, 42</a:t>
            </a:r>
            <a:endParaRPr lang="en-US" sz="1900" dirty="0"/>
          </a:p>
        </p:txBody>
      </p:sp>
      <p:sp>
        <p:nvSpPr>
          <p:cNvPr id="30" name="Text 22"/>
          <p:cNvSpPr txBox="1"/>
          <p:nvPr/>
        </p:nvSpPr>
        <p:spPr>
          <a:xfrm>
            <a:off x="7955280" y="2697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Kirana store owner  ·  Tier-2 city</a:t>
            </a:r>
            <a:endParaRPr lang="en-US" sz="1300" dirty="0"/>
          </a:p>
        </p:txBody>
      </p:sp>
      <p:sp>
        <p:nvSpPr>
          <p:cNvPr id="31" name="Text 23"/>
          <p:cNvSpPr txBox="1"/>
          <p:nvPr/>
        </p:nvSpPr>
        <p:spPr>
          <a:xfrm>
            <a:off x="7955280" y="3081528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00B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 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Paytm Soundbox + static UPI QR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00B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Talks on  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and Hindi voice notes</a:t>
            </a:r>
            <a:endParaRPr lang="en-US" sz="1250" dirty="0"/>
          </a:p>
        </p:txBody>
      </p:sp>
      <p:sp>
        <p:nvSpPr>
          <p:cNvPr id="32" name="Text 24"/>
          <p:cNvSpPr txBox="1"/>
          <p:nvPr/>
        </p:nvSpPr>
        <p:spPr>
          <a:xfrm>
            <a:off x="7955280" y="37947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KEEPS HIM UP</a:t>
            </a:r>
            <a:endParaRPr lang="en-US" sz="1050" dirty="0"/>
          </a:p>
        </p:txBody>
      </p:sp>
      <p:sp>
        <p:nvSpPr>
          <p:cNvPr id="33" name="Text 25"/>
          <p:cNvSpPr txBox="1"/>
          <p:nvPr/>
        </p:nvSpPr>
        <p:spPr>
          <a:xfrm>
            <a:off x="7955280" y="406908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slump every day from 2 to 5 PM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locked in slow-moving stock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Regulars drifting to quick-commerce</a:t>
            </a:r>
            <a:endParaRPr lang="en-US" sz="1300" dirty="0"/>
          </a:p>
        </p:txBody>
      </p:sp>
      <p:sp>
        <p:nvSpPr>
          <p:cNvPr id="34" name="Text 26"/>
          <p:cNvSpPr txBox="1"/>
          <p:nvPr/>
        </p:nvSpPr>
        <p:spPr>
          <a:xfrm>
            <a:off x="7955280" y="5166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“Mera data mere liye kaam kyun nahi karta?”</a:t>
            </a:r>
            <a:endParaRPr lang="en-US" sz="1350" dirty="0"/>
          </a:p>
        </p:txBody>
      </p:sp>
      <p:sp>
        <p:nvSpPr>
          <p:cNvPr id="35" name="Text 27"/>
          <p:cNvSpPr txBox="1"/>
          <p:nvPr/>
        </p:nvSpPr>
        <p:spPr>
          <a:xfrm>
            <a:off x="7955280" y="5486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doesn’t my own data work for me?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—  PROPOSED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9235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Vyapar Copilot predicts, prescribes and acts</a:t>
            </a:r>
            <a:endParaRPr lang="en-US" sz="3000" dirty="0"/>
          </a:p>
        </p:txBody>
      </p:sp>
      <p:pic>
        <p:nvPicPr>
          <p:cNvPr id="4" name="Image 0" descr="assets/banner_rou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1415" y="420624"/>
            <a:ext cx="1691640" cy="44705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Xyz   |   Vyapar Copilot   |   Paytm Build for India AI Hackathon — Mumbai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45920"/>
            <a:ext cx="3520440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9525">
            <a:solidFill>
              <a:srgbClr val="D6E4F2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1920240"/>
            <a:ext cx="548640" cy="548640"/>
          </a:xfrm>
          <a:prstGeom prst="ellipse">
            <a:avLst/>
          </a:prstGeom>
          <a:solidFill>
            <a:srgbClr val="00BAF2"/>
          </a:solidFill>
          <a:ln w="12700">
            <a:solidFill>
              <a:srgbClr val="00BAF2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4" y="2051914"/>
            <a:ext cx="285293" cy="28529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08760" y="208483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9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MORNING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260604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Morning Briefing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29718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30-second Hindi/English voice note on Soundbox and WhatsApp at 8:30 AM: yesterday vs. last week, plus today’s predicted slow hours.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4335628" y="1645920"/>
            <a:ext cx="3520440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9525">
            <a:solidFill>
              <a:srgbClr val="D6E4F2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609948" y="1920240"/>
            <a:ext cx="548640" cy="548640"/>
          </a:xfrm>
          <a:prstGeom prst="ellipse">
            <a:avLst/>
          </a:prstGeom>
          <a:solidFill>
            <a:srgbClr val="00BAF2"/>
          </a:solidFill>
          <a:ln w="12700">
            <a:solidFill>
              <a:srgbClr val="00BAF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1621" y="2051914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295748" y="208483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9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SLOW HOUR</a:t>
            </a:r>
            <a:endParaRPr lang="en-US" sz="1050" dirty="0"/>
          </a:p>
        </p:txBody>
      </p:sp>
      <p:sp>
        <p:nvSpPr>
          <p:cNvPr id="17" name="Text 12"/>
          <p:cNvSpPr txBox="1"/>
          <p:nvPr/>
        </p:nvSpPr>
        <p:spPr>
          <a:xfrm>
            <a:off x="4609948" y="260604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Slump Buster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4609948" y="29718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low-footfall windows and launches margin-safe 5–15% cashback to at-risk regulars via WhatsApp vouchers and a time-bound promo QR.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8122615" y="1645920"/>
            <a:ext cx="3520440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9525">
            <a:solidFill>
              <a:srgbClr val="D6E4F2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396935" y="1920240"/>
            <a:ext cx="548640" cy="548640"/>
          </a:xfrm>
          <a:prstGeom prst="ellipse">
            <a:avLst/>
          </a:prstGeom>
          <a:solidFill>
            <a:srgbClr val="00BAF2"/>
          </a:solidFill>
          <a:ln w="12700">
            <a:solidFill>
              <a:srgbClr val="00BAF2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8609" y="205191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082735" y="208483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9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STOCK RUNS OUT</a:t>
            </a:r>
            <a:endParaRPr lang="en-US" sz="1050" dirty="0"/>
          </a:p>
        </p:txBody>
      </p:sp>
      <p:sp>
        <p:nvSpPr>
          <p:cNvPr id="23" name="Text 17"/>
          <p:cNvSpPr txBox="1"/>
          <p:nvPr/>
        </p:nvSpPr>
        <p:spPr>
          <a:xfrm>
            <a:off x="8396935" y="260604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Restock</a:t>
            </a:r>
            <a:endParaRPr lang="en-US" sz="1700" dirty="0"/>
          </a:p>
        </p:txBody>
      </p:sp>
      <p:sp>
        <p:nvSpPr>
          <p:cNvPr id="24" name="Text 18"/>
          <p:cNvSpPr txBox="1"/>
          <p:nvPr/>
        </p:nvSpPr>
        <p:spPr>
          <a:xfrm>
            <a:off x="8396935" y="29718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time-to-stockout by category, flags cash-flow gaps, and drafts a one-tap WhatsApp purchase order to the regular distributor.</a:t>
            </a:r>
            <a:endParaRPr lang="en-US" sz="1250" dirty="0"/>
          </a:p>
        </p:txBody>
      </p:sp>
      <p:sp>
        <p:nvSpPr>
          <p:cNvPr id="25" name="Text 19"/>
          <p:cNvSpPr txBox="1"/>
          <p:nvPr/>
        </p:nvSpPr>
        <p:spPr>
          <a:xfrm>
            <a:off x="548640" y="4224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 LOOP  ·  ONE VOICE NOTE, END TO END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1225296" y="4901184"/>
            <a:ext cx="1484300" cy="0"/>
          </a:xfrm>
          <a:prstGeom prst="line">
            <a:avLst/>
          </a:prstGeom>
          <a:noFill/>
          <a:ln w="19050">
            <a:solidFill>
              <a:srgbClr val="00BAF2"/>
            </a:solidFill>
            <a:prstDash val="dash"/>
            <a:tailEnd type="triangle"/>
          </a:ln>
        </p:spPr>
      </p:sp>
      <p:sp>
        <p:nvSpPr>
          <p:cNvPr id="27" name="Shape 21"/>
          <p:cNvSpPr/>
          <p:nvPr/>
        </p:nvSpPr>
        <p:spPr>
          <a:xfrm>
            <a:off x="548640" y="4617720"/>
            <a:ext cx="566928" cy="566928"/>
          </a:xfrm>
          <a:prstGeom prst="ellipse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703" y="4753783"/>
            <a:ext cx="294803" cy="294803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48640" y="5303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450" dirty="0"/>
          </a:p>
        </p:txBody>
      </p:sp>
      <p:sp>
        <p:nvSpPr>
          <p:cNvPr id="30" name="Text 23"/>
          <p:cNvSpPr txBox="1"/>
          <p:nvPr/>
        </p:nvSpPr>
        <p:spPr>
          <a:xfrm>
            <a:off x="548640" y="55961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live morning transactions stream in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3495980" y="4901184"/>
            <a:ext cx="1484300" cy="0"/>
          </a:xfrm>
          <a:prstGeom prst="line">
            <a:avLst/>
          </a:prstGeom>
          <a:noFill/>
          <a:ln w="19050">
            <a:solidFill>
              <a:srgbClr val="00BAF2"/>
            </a:solidFill>
            <a:prstDash val="dash"/>
            <a:tailEnd type="triangle"/>
          </a:ln>
        </p:spPr>
      </p:sp>
      <p:sp>
        <p:nvSpPr>
          <p:cNvPr id="32" name="Shape 25"/>
          <p:cNvSpPr/>
          <p:nvPr/>
        </p:nvSpPr>
        <p:spPr>
          <a:xfrm>
            <a:off x="2819324" y="4617720"/>
            <a:ext cx="566928" cy="566928"/>
          </a:xfrm>
          <a:prstGeom prst="ellipse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55387" y="4753783"/>
            <a:ext cx="294803" cy="294803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2819324" y="5303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450" dirty="0"/>
          </a:p>
        </p:txBody>
      </p:sp>
      <p:sp>
        <p:nvSpPr>
          <p:cNvPr id="35" name="Text 27"/>
          <p:cNvSpPr txBox="1"/>
          <p:nvPr/>
        </p:nvSpPr>
        <p:spPr>
          <a:xfrm>
            <a:off x="2819324" y="55961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 engine flags a 68% footfall dip from 2–5 PM</a:t>
            </a:r>
            <a:endParaRPr lang="en-US" sz="1150" dirty="0"/>
          </a:p>
        </p:txBody>
      </p:sp>
      <p:sp>
        <p:nvSpPr>
          <p:cNvPr id="36" name="Shape 28"/>
          <p:cNvSpPr/>
          <p:nvPr/>
        </p:nvSpPr>
        <p:spPr>
          <a:xfrm>
            <a:off x="5766664" y="4901184"/>
            <a:ext cx="1484300" cy="0"/>
          </a:xfrm>
          <a:prstGeom prst="line">
            <a:avLst/>
          </a:prstGeom>
          <a:noFill/>
          <a:ln w="19050">
            <a:solidFill>
              <a:srgbClr val="00BAF2"/>
            </a:solidFill>
            <a:prstDash val="dash"/>
            <a:tailEnd type="triangle"/>
          </a:ln>
        </p:spPr>
      </p:sp>
      <p:sp>
        <p:nvSpPr>
          <p:cNvPr id="37" name="Shape 29"/>
          <p:cNvSpPr/>
          <p:nvPr/>
        </p:nvSpPr>
        <p:spPr>
          <a:xfrm>
            <a:off x="5090008" y="4617720"/>
            <a:ext cx="566928" cy="566928"/>
          </a:xfrm>
          <a:prstGeom prst="ellipse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26070" y="4753783"/>
            <a:ext cx="294803" cy="294803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5090008" y="5303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</a:t>
            </a:r>
            <a:endParaRPr lang="en-US" sz="1450" dirty="0"/>
          </a:p>
        </p:txBody>
      </p:sp>
      <p:sp>
        <p:nvSpPr>
          <p:cNvPr id="40" name="Text 31"/>
          <p:cNvSpPr txBox="1"/>
          <p:nvPr/>
        </p:nvSpPr>
        <p:spPr>
          <a:xfrm>
            <a:off x="5090008" y="55961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“Run 10% Happy Hours cashback for 142 regulars?”</a:t>
            </a:r>
            <a:endParaRPr lang="en-US" sz="1150" dirty="0"/>
          </a:p>
        </p:txBody>
      </p:sp>
      <p:sp>
        <p:nvSpPr>
          <p:cNvPr id="41" name="Shape 32"/>
          <p:cNvSpPr/>
          <p:nvPr/>
        </p:nvSpPr>
        <p:spPr>
          <a:xfrm>
            <a:off x="8037347" y="4901184"/>
            <a:ext cx="1484300" cy="0"/>
          </a:xfrm>
          <a:prstGeom prst="line">
            <a:avLst/>
          </a:prstGeom>
          <a:noFill/>
          <a:ln w="19050">
            <a:solidFill>
              <a:srgbClr val="00BAF2"/>
            </a:solidFill>
            <a:prstDash val="dash"/>
            <a:tailEnd type="triangle"/>
          </a:ln>
        </p:spPr>
      </p:sp>
      <p:sp>
        <p:nvSpPr>
          <p:cNvPr id="42" name="Shape 33"/>
          <p:cNvSpPr/>
          <p:nvPr/>
        </p:nvSpPr>
        <p:spPr>
          <a:xfrm>
            <a:off x="7360691" y="4617720"/>
            <a:ext cx="566928" cy="566928"/>
          </a:xfrm>
          <a:prstGeom prst="ellipse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96754" y="4753783"/>
            <a:ext cx="294803" cy="294803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7360691" y="5303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450" dirty="0"/>
          </a:p>
        </p:txBody>
      </p:sp>
      <p:sp>
        <p:nvSpPr>
          <p:cNvPr id="45" name="Text 35"/>
          <p:cNvSpPr txBox="1"/>
          <p:nvPr/>
        </p:nvSpPr>
        <p:spPr>
          <a:xfrm>
            <a:off x="7360691" y="55961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note: “Haan, bilkul shuru kar do!”</a:t>
            </a:r>
            <a:endParaRPr lang="en-US" sz="1150" dirty="0"/>
          </a:p>
        </p:txBody>
      </p:sp>
      <p:sp>
        <p:nvSpPr>
          <p:cNvPr id="46" name="Shape 36"/>
          <p:cNvSpPr/>
          <p:nvPr/>
        </p:nvSpPr>
        <p:spPr>
          <a:xfrm>
            <a:off x="9631375" y="4617720"/>
            <a:ext cx="566928" cy="56692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pic>
        <p:nvPicPr>
          <p:cNvPr id="47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67438" y="4753783"/>
            <a:ext cx="294803" cy="294803"/>
          </a:xfrm>
          <a:prstGeom prst="rect">
            <a:avLst/>
          </a:prstGeom>
        </p:spPr>
      </p:pic>
      <p:sp>
        <p:nvSpPr>
          <p:cNvPr id="48" name="Text 37"/>
          <p:cNvSpPr txBox="1"/>
          <p:nvPr/>
        </p:nvSpPr>
        <p:spPr>
          <a:xfrm>
            <a:off x="9631375" y="5303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450" dirty="0"/>
          </a:p>
        </p:txBody>
      </p:sp>
      <p:sp>
        <p:nvSpPr>
          <p:cNvPr id="49" name="Text 38"/>
          <p:cNvSpPr txBox="1"/>
          <p:nvPr/>
        </p:nvSpPr>
        <p:spPr>
          <a:xfrm>
            <a:off x="9631375" y="55961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live, vouchers sent, Soundbox confirms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—  TECHNOLOGY STACK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9235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predictive brain wired to an agentic action layer</a:t>
            </a:r>
            <a:endParaRPr lang="en-US" sz="3000" dirty="0"/>
          </a:p>
        </p:txBody>
      </p:sp>
      <p:pic>
        <p:nvPicPr>
          <p:cNvPr id="4" name="Image 0" descr="assets/banner_rou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1415" y="420624"/>
            <a:ext cx="1691640" cy="44705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Xyz   |   Vyapar Copilot   |   Paytm Build for India AI Hackathon — Mumbai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45920"/>
            <a:ext cx="7269480" cy="1261872"/>
          </a:xfrm>
          <a:prstGeom prst="roundRect">
            <a:avLst>
              <a:gd name="adj" fmla="val 10145"/>
            </a:avLst>
          </a:prstGeom>
          <a:solidFill>
            <a:srgbClr val="E3F5FD"/>
          </a:solidFill>
          <a:ln w="9525">
            <a:solidFill>
              <a:srgbClr val="B9E4F7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847088"/>
            <a:ext cx="420624" cy="420624"/>
          </a:xfrm>
          <a:prstGeom prst="ellipse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190" y="1948038"/>
            <a:ext cx="218724" cy="21872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77240" y="235915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INTERFACE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58775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D9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AI lead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2926080" y="1911096"/>
            <a:ext cx="1903781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9E4F7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2926080" y="1911096"/>
            <a:ext cx="190378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Cloud API / Twilio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939589" y="1911096"/>
            <a:ext cx="142097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9E4F7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939589" y="1911096"/>
            <a:ext cx="14209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Soundbox TTS alerts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2926080" y="2331720"/>
            <a:ext cx="1360627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9E4F7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2926080" y="2331720"/>
            <a:ext cx="136062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mobile PWA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396435" y="2331720"/>
            <a:ext cx="1662379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9E4F7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396435" y="2331720"/>
            <a:ext cx="16623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+ Radix UI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548640" y="3127248"/>
            <a:ext cx="7269480" cy="1261872"/>
          </a:xfrm>
          <a:prstGeom prst="roundRect">
            <a:avLst>
              <a:gd name="adj" fmla="val 10145"/>
            </a:avLst>
          </a:prstGeom>
          <a:solidFill>
            <a:srgbClr val="0B2A5B"/>
          </a:solidFill>
          <a:ln w="9525">
            <a:solidFill>
              <a:srgbClr val="0B2A5B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77240" y="3328416"/>
            <a:ext cx="420624" cy="420624"/>
          </a:xfrm>
          <a:prstGeom prst="ellipse">
            <a:avLst/>
          </a:prstGeom>
          <a:solidFill>
            <a:srgbClr val="00BAF2"/>
          </a:solidFill>
          <a:ln w="12700">
            <a:solidFill>
              <a:srgbClr val="00BAF2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190" y="3429366"/>
            <a:ext cx="218724" cy="218724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777240" y="384048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BRAIN</a:t>
            </a:r>
            <a:endParaRPr 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777240" y="406908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00B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AI lead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2926080" y="3392424"/>
            <a:ext cx="696773" cy="310896"/>
          </a:xfrm>
          <a:prstGeom prst="roundRect">
            <a:avLst>
              <a:gd name="adj" fmla="val 50000"/>
            </a:avLst>
          </a:prstGeom>
          <a:solidFill>
            <a:srgbClr val="1B4280"/>
          </a:solidFill>
          <a:ln w="9525">
            <a:solidFill>
              <a:srgbClr val="2F5A9A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2926080" y="3392424"/>
            <a:ext cx="69677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3732581" y="3392424"/>
            <a:ext cx="1602029" cy="310896"/>
          </a:xfrm>
          <a:prstGeom prst="roundRect">
            <a:avLst>
              <a:gd name="adj" fmla="val 50000"/>
            </a:avLst>
          </a:prstGeom>
          <a:solidFill>
            <a:srgbClr val="1B4280"/>
          </a:solidFill>
          <a:ln w="9525">
            <a:solidFill>
              <a:srgbClr val="2F5A9A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3732581" y="3392424"/>
            <a:ext cx="160202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orchestrator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5444338" y="3392424"/>
            <a:ext cx="1964131" cy="310896"/>
          </a:xfrm>
          <a:prstGeom prst="roundRect">
            <a:avLst>
              <a:gd name="adj" fmla="val 50000"/>
            </a:avLst>
          </a:prstGeom>
          <a:solidFill>
            <a:srgbClr val="1B4280"/>
          </a:solidFill>
          <a:ln w="9525">
            <a:solidFill>
              <a:srgbClr val="2F5A9A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5444338" y="3392424"/>
            <a:ext cx="19641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(structured JSON)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2926080" y="3813048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1B4280"/>
          </a:solidFill>
          <a:ln w="9525">
            <a:solidFill>
              <a:srgbClr val="2F5A9A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2926080" y="3813048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Whisper-large-v3 STT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4818888" y="3813048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1B4280"/>
          </a:solidFill>
          <a:ln w="9525">
            <a:solidFill>
              <a:srgbClr val="2F5A9A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4818888" y="3813048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Cartesia / ElevenLabs TTS</a:t>
            </a:r>
            <a:endParaRPr lang="en-US" sz="1050" dirty="0"/>
          </a:p>
        </p:txBody>
      </p:sp>
      <p:sp>
        <p:nvSpPr>
          <p:cNvPr id="35" name="Shape 30"/>
          <p:cNvSpPr/>
          <p:nvPr/>
        </p:nvSpPr>
        <p:spPr>
          <a:xfrm>
            <a:off x="548640" y="4608576"/>
            <a:ext cx="7269480" cy="1261872"/>
          </a:xfrm>
          <a:prstGeom prst="roundRect">
            <a:avLst>
              <a:gd name="adj" fmla="val 10145"/>
            </a:avLst>
          </a:prstGeom>
          <a:solidFill>
            <a:srgbClr val="FFF0E5"/>
          </a:solidFill>
          <a:ln w="9525">
            <a:solidFill>
              <a:srgbClr val="FFD3B5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2000"/>
              </a:srgbClr>
            </a:outerShdw>
          </a:effectLst>
        </p:spPr>
      </p:sp>
      <p:sp>
        <p:nvSpPr>
          <p:cNvPr id="36" name="Shape 31"/>
          <p:cNvSpPr/>
          <p:nvPr/>
        </p:nvSpPr>
        <p:spPr>
          <a:xfrm>
            <a:off x="777240" y="4809744"/>
            <a:ext cx="420624" cy="420624"/>
          </a:xfrm>
          <a:prstGeom prst="ellipse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190" y="4910694"/>
            <a:ext cx="218724" cy="218724"/>
          </a:xfrm>
          <a:prstGeom prst="rect">
            <a:avLst/>
          </a:prstGeom>
        </p:spPr>
      </p:pic>
      <p:sp>
        <p:nvSpPr>
          <p:cNvPr id="38" name="Text 32"/>
          <p:cNvSpPr txBox="1"/>
          <p:nvPr/>
        </p:nvSpPr>
        <p:spPr>
          <a:xfrm>
            <a:off x="777240" y="532180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ENGINE</a:t>
            </a:r>
            <a:endParaRPr lang="en-US" sz="1100" dirty="0"/>
          </a:p>
        </p:txBody>
      </p:sp>
      <p:sp>
        <p:nvSpPr>
          <p:cNvPr id="39" name="Text 33"/>
          <p:cNvSpPr txBox="1"/>
          <p:nvPr/>
        </p:nvSpPr>
        <p:spPr>
          <a:xfrm>
            <a:off x="777240" y="555040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D9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lead</a:t>
            </a:r>
            <a:endParaRPr lang="en-US" sz="1050" dirty="0"/>
          </a:p>
        </p:txBody>
      </p:sp>
      <p:sp>
        <p:nvSpPr>
          <p:cNvPr id="40" name="Shape 34"/>
          <p:cNvSpPr/>
          <p:nvPr/>
        </p:nvSpPr>
        <p:spPr>
          <a:xfrm>
            <a:off x="2926080" y="4873752"/>
            <a:ext cx="208483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D3B5"/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2926080" y="4873752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/ LightGBM forecasting</a:t>
            </a:r>
            <a:endParaRPr lang="en-US" sz="1050" dirty="0"/>
          </a:p>
        </p:txBody>
      </p:sp>
      <p:sp>
        <p:nvSpPr>
          <p:cNvPr id="42" name="Shape 36"/>
          <p:cNvSpPr/>
          <p:nvPr/>
        </p:nvSpPr>
        <p:spPr>
          <a:xfrm>
            <a:off x="5120640" y="4873752"/>
            <a:ext cx="184343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D3B5"/>
            </a:solidFill>
            <a:prstDash val="solid"/>
          </a:ln>
        </p:spPr>
      </p:sp>
      <p:sp>
        <p:nvSpPr>
          <p:cNvPr id="43" name="Text 37"/>
          <p:cNvSpPr txBox="1"/>
          <p:nvPr/>
        </p:nvSpPr>
        <p:spPr>
          <a:xfrm>
            <a:off x="5120640" y="4873752"/>
            <a:ext cx="184343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+ RFM segmentation</a:t>
            </a:r>
            <a:endParaRPr lang="en-US" sz="1050" dirty="0"/>
          </a:p>
        </p:txBody>
      </p:sp>
      <p:sp>
        <p:nvSpPr>
          <p:cNvPr id="44" name="Shape 38"/>
          <p:cNvSpPr/>
          <p:nvPr/>
        </p:nvSpPr>
        <p:spPr>
          <a:xfrm>
            <a:off x="2926080" y="5294376"/>
            <a:ext cx="214518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D3B5"/>
            </a:solidFill>
            <a:prstDash val="solid"/>
          </a:ln>
        </p:spPr>
      </p:sp>
      <p:sp>
        <p:nvSpPr>
          <p:cNvPr id="45" name="Text 39"/>
          <p:cNvSpPr txBox="1"/>
          <p:nvPr/>
        </p:nvSpPr>
        <p:spPr>
          <a:xfrm>
            <a:off x="2926080" y="5294376"/>
            <a:ext cx="21451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Margin-aware discount optimizer</a:t>
            </a:r>
            <a:endParaRPr lang="en-US" sz="1050" dirty="0"/>
          </a:p>
        </p:txBody>
      </p:sp>
      <p:sp>
        <p:nvSpPr>
          <p:cNvPr id="46" name="Shape 40"/>
          <p:cNvSpPr/>
          <p:nvPr/>
        </p:nvSpPr>
        <p:spPr>
          <a:xfrm>
            <a:off x="5180990" y="5294376"/>
            <a:ext cx="232623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D3B5"/>
            </a:solidFill>
            <a:prstDash val="solid"/>
          </a:ln>
        </p:spPr>
      </p:sp>
      <p:sp>
        <p:nvSpPr>
          <p:cNvPr id="47" name="Text 41"/>
          <p:cNvSpPr txBox="1"/>
          <p:nvPr/>
        </p:nvSpPr>
        <p:spPr>
          <a:xfrm>
            <a:off x="5180990" y="5294376"/>
            <a:ext cx="23262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180-day transaction data</a:t>
            </a:r>
            <a:endParaRPr lang="en-US" sz="1050" dirty="0"/>
          </a:p>
        </p:txBody>
      </p:sp>
      <p:sp>
        <p:nvSpPr>
          <p:cNvPr id="48" name="Shape 42"/>
          <p:cNvSpPr/>
          <p:nvPr/>
        </p:nvSpPr>
        <p:spPr>
          <a:xfrm>
            <a:off x="8092440" y="1645920"/>
            <a:ext cx="3550615" cy="4224528"/>
          </a:xfrm>
          <a:prstGeom prst="roundRect">
            <a:avLst>
              <a:gd name="adj" fmla="val 3605"/>
            </a:avLst>
          </a:prstGeom>
          <a:solidFill>
            <a:srgbClr val="061A3A"/>
          </a:solidFill>
          <a:ln w="12700">
            <a:solidFill>
              <a:srgbClr val="061A3A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2000"/>
              </a:srgbClr>
            </a:outerShdw>
          </a:effectLst>
        </p:spPr>
      </p:sp>
      <p:sp>
        <p:nvSpPr>
          <p:cNvPr id="49" name="Text 43"/>
          <p:cNvSpPr txBox="1"/>
          <p:nvPr/>
        </p:nvSpPr>
        <p:spPr>
          <a:xfrm>
            <a:off x="8348472" y="1874520"/>
            <a:ext cx="3093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TOOLS  ·  MOCK PAYTM APIs</a:t>
            </a:r>
            <a:endParaRPr lang="en-US" sz="1100" dirty="0"/>
          </a:p>
        </p:txBody>
      </p:sp>
      <p:sp>
        <p:nvSpPr>
          <p:cNvPr id="50" name="Text 44"/>
          <p:cNvSpPr txBox="1"/>
          <p:nvPr/>
        </p:nvSpPr>
        <p:spPr>
          <a:xfrm>
            <a:off x="8348472" y="2194560"/>
            <a:ext cx="318485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launch_paytm_cashback_campaign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(radius_km, discount_pct,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duration_hours)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send_customer_whatsapp_voucher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(customer_id, coupon_code)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dispatch_distributor_purchase_order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(vendor_phone, po_items)</a:t>
            </a:r>
            <a:endParaRPr lang="en-US" sz="1000" dirty="0"/>
          </a:p>
        </p:txBody>
      </p:sp>
      <p:sp>
        <p:nvSpPr>
          <p:cNvPr id="51" name="Text 45"/>
          <p:cNvSpPr txBox="1"/>
          <p:nvPr/>
        </p:nvSpPr>
        <p:spPr>
          <a:xfrm>
            <a:off x="8348472" y="3840480"/>
            <a:ext cx="3093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 MICROSERVICE  ·  FASTAPI</a:t>
            </a:r>
            <a:endParaRPr lang="en-US" sz="1100" dirty="0"/>
          </a:p>
        </p:txBody>
      </p:sp>
      <p:sp>
        <p:nvSpPr>
          <p:cNvPr id="52" name="Text 46"/>
          <p:cNvSpPr txBox="1"/>
          <p:nvPr/>
        </p:nvSpPr>
        <p:spPr>
          <a:xfrm>
            <a:off x="8348472" y="4133088"/>
            <a:ext cx="3184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/analytics/forecast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/analytics/predict-slump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/analytics/customer-segments</a:t>
            </a:r>
            <a:endParaRPr lang="en-US" sz="1000" dirty="0"/>
          </a:p>
        </p:txBody>
      </p:sp>
      <p:sp>
        <p:nvSpPr>
          <p:cNvPr id="53" name="Text 47"/>
          <p:cNvSpPr txBox="1"/>
          <p:nvPr/>
        </p:nvSpPr>
        <p:spPr>
          <a:xfrm>
            <a:off x="8348472" y="4956048"/>
            <a:ext cx="3093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100" dirty="0"/>
          </a:p>
        </p:txBody>
      </p:sp>
      <p:sp>
        <p:nvSpPr>
          <p:cNvPr id="54" name="Text 48"/>
          <p:cNvSpPr txBox="1"/>
          <p:nvPr/>
        </p:nvSpPr>
        <p:spPr>
          <a:xfrm>
            <a:off x="8348472" y="5230368"/>
            <a:ext cx="3093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comes from a DS endpoint, never the LLM. Every action waits for one-tap merchant approval.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—  UNIQUE SELLING PROPOSITION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9235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another chatbot: a copilot that closes the loop</a:t>
            </a:r>
            <a:endParaRPr lang="en-US" sz="3000" dirty="0"/>
          </a:p>
        </p:txBody>
      </p:sp>
      <p:pic>
        <p:nvPicPr>
          <p:cNvPr id="4" name="Image 0" descr="assets/banner_rou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1415" y="420624"/>
            <a:ext cx="1691640" cy="44705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Xyz   |   Vyapar Copilot   |   Paytm Build for India AI Hackathon — Mumbai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3063240" y="1645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AI HACKATHON BUILD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812280" y="1645920"/>
            <a:ext cx="4785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VYAPAR COPILOT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093976"/>
            <a:ext cx="438912" cy="438912"/>
          </a:xfrm>
          <a:prstGeom prst="ellipse">
            <a:avLst/>
          </a:prstGeom>
          <a:solidFill>
            <a:srgbClr val="12356B"/>
          </a:solidFill>
          <a:ln w="12700">
            <a:solidFill>
              <a:srgbClr val="12356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979" y="2199315"/>
            <a:ext cx="228234" cy="22823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15568" y="1965960"/>
            <a:ext cx="1554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2834640" y="1965960"/>
            <a:ext cx="3566160" cy="694944"/>
          </a:xfrm>
          <a:prstGeom prst="roundRect">
            <a:avLst>
              <a:gd name="adj" fmla="val 15789"/>
            </a:avLst>
          </a:prstGeom>
          <a:solidFill>
            <a:srgbClr val="0F2A55"/>
          </a:solidFill>
          <a:ln w="9525">
            <a:solidFill>
              <a:srgbClr val="1C3D70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3063240" y="1965960"/>
            <a:ext cx="3154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text web chat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583680" y="1965960"/>
            <a:ext cx="5059375" cy="694944"/>
          </a:xfrm>
          <a:prstGeom prst="roundRect">
            <a:avLst>
              <a:gd name="adj" fmla="val 15789"/>
            </a:avLst>
          </a:prstGeom>
          <a:solidFill>
            <a:srgbClr val="00BAF2"/>
          </a:solidFill>
          <a:ln w="12700">
            <a:solidFill>
              <a:srgbClr val="00BAF2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812280" y="1965960"/>
            <a:ext cx="464789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voice notes and Soundbox audio, in Hinglish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48640" y="2916936"/>
            <a:ext cx="438912" cy="438912"/>
          </a:xfrm>
          <a:prstGeom prst="ellipse">
            <a:avLst/>
          </a:prstGeom>
          <a:solidFill>
            <a:srgbClr val="12356B"/>
          </a:solidFill>
          <a:ln w="12700">
            <a:solidFill>
              <a:srgbClr val="12356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979" y="3022275"/>
            <a:ext cx="228234" cy="22823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115568" y="2788920"/>
            <a:ext cx="1554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2834640" y="2788920"/>
            <a:ext cx="3566160" cy="694944"/>
          </a:xfrm>
          <a:prstGeom prst="roundRect">
            <a:avLst>
              <a:gd name="adj" fmla="val 15789"/>
            </a:avLst>
          </a:prstGeom>
          <a:solidFill>
            <a:srgbClr val="0F2A55"/>
          </a:solidFill>
          <a:ln w="9525">
            <a:solidFill>
              <a:srgbClr val="1C3D70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3063240" y="2788920"/>
            <a:ext cx="3154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LLM prompts (“How do I sell more?”)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6583680" y="2788920"/>
            <a:ext cx="5059375" cy="694944"/>
          </a:xfrm>
          <a:prstGeom prst="roundRect">
            <a:avLst>
              <a:gd name="adj" fmla="val 15789"/>
            </a:avLst>
          </a:prstGeom>
          <a:solidFill>
            <a:srgbClr val="00BAF2"/>
          </a:solidFill>
          <a:ln w="12700">
            <a:solidFill>
              <a:srgbClr val="00BAF2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812280" y="2788920"/>
            <a:ext cx="464789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and RFM models trained on transaction trends and margins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548640" y="3739896"/>
            <a:ext cx="438912" cy="438912"/>
          </a:xfrm>
          <a:prstGeom prst="ellipse">
            <a:avLst/>
          </a:prstGeom>
          <a:solidFill>
            <a:srgbClr val="12356B"/>
          </a:solidFill>
          <a:ln w="12700">
            <a:solidFill>
              <a:srgbClr val="12356B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979" y="3845235"/>
            <a:ext cx="228234" cy="22823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115568" y="3611880"/>
            <a:ext cx="1554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600" dirty="0"/>
          </a:p>
        </p:txBody>
      </p:sp>
      <p:sp>
        <p:nvSpPr>
          <p:cNvPr id="26" name="Shape 20"/>
          <p:cNvSpPr/>
          <p:nvPr/>
        </p:nvSpPr>
        <p:spPr>
          <a:xfrm>
            <a:off x="2834640" y="3611880"/>
            <a:ext cx="3566160" cy="694944"/>
          </a:xfrm>
          <a:prstGeom prst="roundRect">
            <a:avLst>
              <a:gd name="adj" fmla="val 15789"/>
            </a:avLst>
          </a:prstGeom>
          <a:solidFill>
            <a:srgbClr val="0F2A55"/>
          </a:solidFill>
          <a:ln w="9525">
            <a:solidFill>
              <a:srgbClr val="1C3D70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3063240" y="3611880"/>
            <a:ext cx="3154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Advice only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6583680" y="3611880"/>
            <a:ext cx="5059375" cy="694944"/>
          </a:xfrm>
          <a:prstGeom prst="roundRect">
            <a:avLst>
              <a:gd name="adj" fmla="val 15789"/>
            </a:avLst>
          </a:prstGeom>
          <a:solidFill>
            <a:srgbClr val="00BAF2"/>
          </a:solidFill>
          <a:ln w="12700">
            <a:solidFill>
              <a:srgbClr val="00BAF2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6812280" y="3611880"/>
            <a:ext cx="464789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execution: creates the cashback campaign, voucher or promo QR</a:t>
            </a:r>
            <a:endParaRPr lang="en-US" sz="1400" dirty="0"/>
          </a:p>
        </p:txBody>
      </p:sp>
      <p:sp>
        <p:nvSpPr>
          <p:cNvPr id="30" name="Shape 24"/>
          <p:cNvSpPr/>
          <p:nvPr/>
        </p:nvSpPr>
        <p:spPr>
          <a:xfrm>
            <a:off x="548640" y="4562856"/>
            <a:ext cx="438912" cy="438912"/>
          </a:xfrm>
          <a:prstGeom prst="ellipse">
            <a:avLst/>
          </a:prstGeom>
          <a:solidFill>
            <a:srgbClr val="12356B"/>
          </a:solidFill>
          <a:ln w="12700">
            <a:solidFill>
              <a:srgbClr val="12356B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979" y="4668195"/>
            <a:ext cx="228234" cy="228234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1115568" y="4434840"/>
            <a:ext cx="1554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600" dirty="0"/>
          </a:p>
        </p:txBody>
      </p:sp>
      <p:sp>
        <p:nvSpPr>
          <p:cNvPr id="33" name="Shape 26"/>
          <p:cNvSpPr/>
          <p:nvPr/>
        </p:nvSpPr>
        <p:spPr>
          <a:xfrm>
            <a:off x="2834640" y="4434840"/>
            <a:ext cx="3566160" cy="694944"/>
          </a:xfrm>
          <a:prstGeom prst="roundRect">
            <a:avLst>
              <a:gd name="adj" fmla="val 15789"/>
            </a:avLst>
          </a:prstGeom>
          <a:solidFill>
            <a:srgbClr val="0F2A55"/>
          </a:solidFill>
          <a:ln w="9525">
            <a:solidFill>
              <a:srgbClr val="1C3D70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3063240" y="4434840"/>
            <a:ext cx="3154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global retail</a:t>
            </a:r>
            <a:endParaRPr lang="en-US" sz="1300" dirty="0"/>
          </a:p>
        </p:txBody>
      </p:sp>
      <p:sp>
        <p:nvSpPr>
          <p:cNvPr id="35" name="Shape 28"/>
          <p:cNvSpPr/>
          <p:nvPr/>
        </p:nvSpPr>
        <p:spPr>
          <a:xfrm>
            <a:off x="6583680" y="4434840"/>
            <a:ext cx="5059375" cy="694944"/>
          </a:xfrm>
          <a:prstGeom prst="roundRect">
            <a:avLst>
              <a:gd name="adj" fmla="val 15789"/>
            </a:avLst>
          </a:prstGeom>
          <a:solidFill>
            <a:srgbClr val="00BAF2"/>
          </a:solidFill>
          <a:ln w="12700">
            <a:solidFill>
              <a:srgbClr val="00BAF2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6812280" y="4434840"/>
            <a:ext cx="464789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SMB nuance: khata credit, festival spikes, kirana rhythms</a:t>
            </a:r>
            <a:endParaRPr lang="en-US" sz="1400" dirty="0"/>
          </a:p>
        </p:txBody>
      </p:sp>
      <p:sp>
        <p:nvSpPr>
          <p:cNvPr id="37" name="Shape 30"/>
          <p:cNvSpPr/>
          <p:nvPr/>
        </p:nvSpPr>
        <p:spPr>
          <a:xfrm>
            <a:off x="548640" y="5532120"/>
            <a:ext cx="2636444" cy="502920"/>
          </a:xfrm>
          <a:prstGeom prst="roundRect">
            <a:avLst>
              <a:gd name="adj" fmla="val 50000"/>
            </a:avLst>
          </a:prstGeom>
          <a:solidFill>
            <a:srgbClr val="0B2A5B"/>
          </a:solidFill>
          <a:ln w="12700">
            <a:solidFill>
              <a:srgbClr val="FF8A3D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08" y="5660136"/>
            <a:ext cx="246888" cy="246888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1078992" y="5532120"/>
            <a:ext cx="19963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new hardware</a:t>
            </a:r>
            <a:endParaRPr lang="en-US" sz="1300" dirty="0"/>
          </a:p>
        </p:txBody>
      </p:sp>
      <p:sp>
        <p:nvSpPr>
          <p:cNvPr id="40" name="Shape 32"/>
          <p:cNvSpPr/>
          <p:nvPr/>
        </p:nvSpPr>
        <p:spPr>
          <a:xfrm>
            <a:off x="3367964" y="5532120"/>
            <a:ext cx="2636444" cy="502920"/>
          </a:xfrm>
          <a:prstGeom prst="roundRect">
            <a:avLst>
              <a:gd name="adj" fmla="val 50000"/>
            </a:avLst>
          </a:prstGeom>
          <a:solidFill>
            <a:srgbClr val="0B2A5B"/>
          </a:solidFill>
          <a:ln w="12700">
            <a:solidFill>
              <a:srgbClr val="FF8A3D"/>
            </a:solidFill>
            <a:prstDash val="solid"/>
          </a:ln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69132" y="5660136"/>
            <a:ext cx="246888" cy="246888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3898316" y="5532120"/>
            <a:ext cx="19963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Margin-safe discounts</a:t>
            </a:r>
            <a:endParaRPr lang="en-US" sz="1300" dirty="0"/>
          </a:p>
        </p:txBody>
      </p:sp>
      <p:sp>
        <p:nvSpPr>
          <p:cNvPr id="43" name="Shape 34"/>
          <p:cNvSpPr/>
          <p:nvPr/>
        </p:nvSpPr>
        <p:spPr>
          <a:xfrm>
            <a:off x="6187288" y="5532120"/>
            <a:ext cx="2636444" cy="502920"/>
          </a:xfrm>
          <a:prstGeom prst="roundRect">
            <a:avLst>
              <a:gd name="adj" fmla="val 50000"/>
            </a:avLst>
          </a:prstGeom>
          <a:solidFill>
            <a:srgbClr val="0B2A5B"/>
          </a:solidFill>
          <a:ln w="12700">
            <a:solidFill>
              <a:srgbClr val="FF8A3D"/>
            </a:solidFill>
            <a:prstDash val="solid"/>
          </a:ln>
        </p:spPr>
      </p:sp>
      <p:pic>
        <p:nvPicPr>
          <p:cNvPr id="44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88456" y="5660136"/>
            <a:ext cx="246888" cy="246888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6717640" y="5532120"/>
            <a:ext cx="19963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Human-approved actions</a:t>
            </a:r>
            <a:endParaRPr lang="en-US" sz="1300" dirty="0"/>
          </a:p>
        </p:txBody>
      </p:sp>
      <p:sp>
        <p:nvSpPr>
          <p:cNvPr id="46" name="Shape 36"/>
          <p:cNvSpPr/>
          <p:nvPr/>
        </p:nvSpPr>
        <p:spPr>
          <a:xfrm>
            <a:off x="9006611" y="5532120"/>
            <a:ext cx="2636444" cy="502920"/>
          </a:xfrm>
          <a:prstGeom prst="roundRect">
            <a:avLst>
              <a:gd name="adj" fmla="val 50000"/>
            </a:avLst>
          </a:prstGeom>
          <a:solidFill>
            <a:srgbClr val="0B2A5B"/>
          </a:solidFill>
          <a:ln w="12700">
            <a:solidFill>
              <a:srgbClr val="FF8A3D"/>
            </a:solidFill>
            <a:prstDash val="solid"/>
          </a:ln>
        </p:spPr>
      </p:sp>
      <p:pic>
        <p:nvPicPr>
          <p:cNvPr id="47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07779" y="5660136"/>
            <a:ext cx="246888" cy="246888"/>
          </a:xfrm>
          <a:prstGeom prst="rect">
            <a:avLst/>
          </a:prstGeom>
        </p:spPr>
      </p:pic>
      <p:sp>
        <p:nvSpPr>
          <p:cNvPr id="48" name="Text 37"/>
          <p:cNvSpPr txBox="1"/>
          <p:nvPr/>
        </p:nvSpPr>
        <p:spPr>
          <a:xfrm>
            <a:off x="9536963" y="5532120"/>
            <a:ext cx="19963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Paytm’s own rails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—  IMPACT &amp; BENEFITS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9235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for merchants. Stickiness for Paytm.</a:t>
            </a:r>
            <a:endParaRPr lang="en-US" sz="3000" dirty="0"/>
          </a:p>
        </p:txBody>
      </p:sp>
      <p:pic>
        <p:nvPicPr>
          <p:cNvPr id="4" name="Image 0" descr="assets/banner_rou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1415" y="420624"/>
            <a:ext cx="1691640" cy="44705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Xyz   |   Vyapar Copilot   |   Paytm Build for India AI Hackathon — Mumbai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45920"/>
            <a:ext cx="2602154" cy="1572768"/>
          </a:xfrm>
          <a:prstGeom prst="roundRect">
            <a:avLst>
              <a:gd name="adj" fmla="val 8140"/>
            </a:avLst>
          </a:prstGeom>
          <a:solidFill>
            <a:srgbClr val="0B2A5B"/>
          </a:solidFill>
          <a:ln w="9525">
            <a:solidFill>
              <a:srgbClr val="0B2A5B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04672" y="1828800"/>
            <a:ext cx="21449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00B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1.57 Cr</a:t>
            </a:r>
            <a:endParaRPr lang="en-US" sz="3800" dirty="0"/>
          </a:p>
        </p:txBody>
      </p:sp>
      <p:sp>
        <p:nvSpPr>
          <p:cNvPr id="9" name="Text 6"/>
          <p:cNvSpPr txBox="1"/>
          <p:nvPr/>
        </p:nvSpPr>
        <p:spPr>
          <a:xfrm>
            <a:off x="804672" y="2542032"/>
            <a:ext cx="21449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Paytm device merchants: a ready-made channel for the copilot¹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79394" y="1645920"/>
            <a:ext cx="2602154" cy="1572768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D6E4F2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3635426" y="1828800"/>
            <a:ext cx="21449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14–18%</a:t>
            </a:r>
            <a:endParaRPr lang="en-US" sz="3800" dirty="0"/>
          </a:p>
        </p:txBody>
      </p:sp>
      <p:sp>
        <p:nvSpPr>
          <p:cNvPr id="12" name="Text 9"/>
          <p:cNvSpPr txBox="1"/>
          <p:nvPr/>
        </p:nvSpPr>
        <p:spPr>
          <a:xfrm>
            <a:off x="3635426" y="2542032"/>
            <a:ext cx="21449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recovery of off-peak footfall²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10148" y="1645920"/>
            <a:ext cx="2602154" cy="1572768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D6E4F2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6466180" y="1828800"/>
            <a:ext cx="21449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hrs</a:t>
            </a:r>
            <a:endParaRPr lang="en-US" sz="3800" dirty="0"/>
          </a:p>
        </p:txBody>
      </p:sp>
      <p:sp>
        <p:nvSpPr>
          <p:cNvPr id="15" name="Text 12"/>
          <p:cNvSpPr txBox="1"/>
          <p:nvPr/>
        </p:nvSpPr>
        <p:spPr>
          <a:xfrm>
            <a:off x="6466180" y="2542032"/>
            <a:ext cx="21449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warning on sales dips and stockouts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9040901" y="1645920"/>
            <a:ext cx="2602154" cy="1572768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D6E4F2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9296933" y="1828800"/>
            <a:ext cx="21449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800" dirty="0"/>
          </a:p>
        </p:txBody>
      </p:sp>
      <p:sp>
        <p:nvSpPr>
          <p:cNvPr id="18" name="Text 15"/>
          <p:cNvSpPr txBox="1"/>
          <p:nvPr/>
        </p:nvSpPr>
        <p:spPr>
          <a:xfrm>
            <a:off x="9296933" y="2542032"/>
            <a:ext cx="21449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hardware. Runs on Soundbox, QR and WhatsApp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48640" y="3474720"/>
            <a:ext cx="3515258" cy="2395728"/>
          </a:xfrm>
          <a:prstGeom prst="roundRect">
            <a:avLst>
              <a:gd name="adj" fmla="val 5344"/>
            </a:avLst>
          </a:prstGeom>
          <a:solidFill>
            <a:srgbClr val="F3F8FD"/>
          </a:solidFill>
          <a:ln w="9525">
            <a:solidFill>
              <a:srgbClr val="D6E4F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04672" y="3730752"/>
            <a:ext cx="475488" cy="475488"/>
          </a:xfrm>
          <a:prstGeom prst="ellipse">
            <a:avLst/>
          </a:prstGeom>
          <a:solidFill>
            <a:srgbClr val="00BAF2"/>
          </a:solidFill>
          <a:ln w="12700">
            <a:solidFill>
              <a:srgbClr val="00BAF2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789" y="3844869"/>
            <a:ext cx="247254" cy="247254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1417320" y="3803904"/>
            <a:ext cx="2509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Merchants</a:t>
            </a:r>
            <a:endParaRPr lang="en-US" sz="1700" dirty="0"/>
          </a:p>
        </p:txBody>
      </p:sp>
      <p:sp>
        <p:nvSpPr>
          <p:cNvPr id="23" name="Text 19"/>
          <p:cNvSpPr txBox="1"/>
          <p:nvPr/>
        </p:nvSpPr>
        <p:spPr>
          <a:xfrm>
            <a:off x="804672" y="4389120"/>
            <a:ext cx="30580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slow hours with profitable, margin-safe offers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up cash stuck in slow-moving stock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insights by voice, with no dashboard to learn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4338218" y="3474720"/>
            <a:ext cx="3515258" cy="2395728"/>
          </a:xfrm>
          <a:prstGeom prst="roundRect">
            <a:avLst>
              <a:gd name="adj" fmla="val 5344"/>
            </a:avLst>
          </a:prstGeom>
          <a:solidFill>
            <a:srgbClr val="F3F8FD"/>
          </a:solidFill>
          <a:ln w="9525">
            <a:solidFill>
              <a:srgbClr val="D6E4F2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594250" y="3730752"/>
            <a:ext cx="475488" cy="475488"/>
          </a:xfrm>
          <a:prstGeom prst="ellipse">
            <a:avLst/>
          </a:prstGeom>
          <a:solidFill>
            <a:srgbClr val="00BAF2"/>
          </a:solidFill>
          <a:ln w="12700">
            <a:solidFill>
              <a:srgbClr val="00BAF2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8368" y="3844869"/>
            <a:ext cx="247254" cy="247254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5206898" y="3803904"/>
            <a:ext cx="2509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Customers</a:t>
            </a:r>
            <a:endParaRPr lang="en-US" sz="1700" dirty="0"/>
          </a:p>
        </p:txBody>
      </p:sp>
      <p:sp>
        <p:nvSpPr>
          <p:cNvPr id="28" name="Text 23"/>
          <p:cNvSpPr txBox="1"/>
          <p:nvPr/>
        </p:nvSpPr>
        <p:spPr>
          <a:xfrm>
            <a:off x="4594250" y="4389120"/>
            <a:ext cx="30580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offers from shops they already trust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out-of-stock moments at the local store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that feel personal, not like spam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8127797" y="3474720"/>
            <a:ext cx="3515258" cy="2395728"/>
          </a:xfrm>
          <a:prstGeom prst="roundRect">
            <a:avLst>
              <a:gd name="adj" fmla="val 5344"/>
            </a:avLst>
          </a:prstGeom>
          <a:solidFill>
            <a:srgbClr val="F3F8FD"/>
          </a:solidFill>
          <a:ln w="9525">
            <a:solidFill>
              <a:srgbClr val="D6E4F2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8383829" y="3730752"/>
            <a:ext cx="475488" cy="47548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7946" y="3844869"/>
            <a:ext cx="247254" cy="247254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8996477" y="3803904"/>
            <a:ext cx="2509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Paytm</a:t>
            </a:r>
            <a:endParaRPr lang="en-US" sz="1700" dirty="0"/>
          </a:p>
        </p:txBody>
      </p:sp>
      <p:sp>
        <p:nvSpPr>
          <p:cNvPr id="33" name="Text 27"/>
          <p:cNvSpPr txBox="1"/>
          <p:nvPr/>
        </p:nvSpPr>
        <p:spPr>
          <a:xfrm>
            <a:off x="8383829" y="4389120"/>
            <a:ext cx="30580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GMV and engagement per device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Stickier Soundbox subscriptions, lower churn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signals for merchant loans and insurance</a:t>
            </a:r>
            <a:endParaRPr lang="en-US" sz="1300" dirty="0"/>
          </a:p>
        </p:txBody>
      </p:sp>
      <p:sp>
        <p:nvSpPr>
          <p:cNvPr id="34" name="Text 28"/>
          <p:cNvSpPr txBox="1"/>
          <p:nvPr/>
        </p:nvSpPr>
        <p:spPr>
          <a:xfrm>
            <a:off x="548640" y="605332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¹ Paytm Q1 FY27 results (quarter ended June 2026).   ² Projected target from our PRD, to be validated in merchant pilots.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—  BUSINESS MODEL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9235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Monetised through rails Paytm already owns</a:t>
            </a:r>
            <a:endParaRPr lang="en-US" sz="3000" dirty="0"/>
          </a:p>
        </p:txBody>
      </p:sp>
      <p:pic>
        <p:nvPicPr>
          <p:cNvPr id="4" name="Image 0" descr="assets/banner_rou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1415" y="420624"/>
            <a:ext cx="1691640" cy="44705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Xyz   |   Vyapar Copilot   |   Paytm Build for India AI Hackathon — Mumbai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45920"/>
            <a:ext cx="416052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9525">
            <a:solidFill>
              <a:srgbClr val="D6E4F2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22960" y="182880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LITE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08483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60604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bundled with every Soundbox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944368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morning voice briefing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sales and customer insights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3794760"/>
            <a:ext cx="4160520" cy="2286000"/>
          </a:xfrm>
          <a:prstGeom prst="roundRect">
            <a:avLst>
              <a:gd name="adj" fmla="val 5600"/>
            </a:avLst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822960" y="397764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B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PRO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423367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₹99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month*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47548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 to the Soundbox subscription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507492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Slump Buster campaigns and promo QR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 and win-back vouchers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restock with one-tap distributor POs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5166360" y="16459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REVENUE STREAMS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166360" y="2057400"/>
            <a:ext cx="512064" cy="512064"/>
          </a:xfrm>
          <a:prstGeom prst="ellipse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9255" y="2180295"/>
            <a:ext cx="266273" cy="266273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5852160" y="2039112"/>
            <a:ext cx="5790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add-on</a:t>
            </a:r>
            <a:endParaRPr lang="en-US" sz="1550" dirty="0"/>
          </a:p>
        </p:txBody>
      </p:sp>
      <p:sp>
        <p:nvSpPr>
          <p:cNvPr id="21" name="Text 17"/>
          <p:cNvSpPr txBox="1"/>
          <p:nvPr/>
        </p:nvSpPr>
        <p:spPr>
          <a:xfrm>
            <a:off x="5852160" y="2331720"/>
            <a:ext cx="5790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is billed on the existing Soundbox subscription rail, so there is no new payment flow for the merchant.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5166360" y="2999232"/>
            <a:ext cx="512064" cy="512064"/>
          </a:xfrm>
          <a:prstGeom prst="ellipse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9255" y="3122127"/>
            <a:ext cx="266273" cy="266273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5852160" y="2980944"/>
            <a:ext cx="5790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fee on campaigns</a:t>
            </a:r>
            <a:endParaRPr lang="en-US" sz="1550" dirty="0"/>
          </a:p>
        </p:txBody>
      </p:sp>
      <p:sp>
        <p:nvSpPr>
          <p:cNvPr id="25" name="Text 20"/>
          <p:cNvSpPr txBox="1"/>
          <p:nvPr/>
        </p:nvSpPr>
        <p:spPr>
          <a:xfrm>
            <a:off x="5852160" y="3273552"/>
            <a:ext cx="5790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share of the incremental GMV that Copilot campaigns measurably drive.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5166360" y="3941064"/>
            <a:ext cx="512064" cy="512064"/>
          </a:xfrm>
          <a:prstGeom prst="ellipse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9255" y="4063959"/>
            <a:ext cx="266273" cy="266273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5852160" y="3922776"/>
            <a:ext cx="5790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&amp; distributor network</a:t>
            </a:r>
            <a:endParaRPr lang="en-US" sz="1550" dirty="0"/>
          </a:p>
        </p:txBody>
      </p:sp>
      <p:sp>
        <p:nvSpPr>
          <p:cNvPr id="29" name="Text 23"/>
          <p:cNvSpPr txBox="1"/>
          <p:nvPr/>
        </p:nvSpPr>
        <p:spPr>
          <a:xfrm>
            <a:off x="5852160" y="4215384"/>
            <a:ext cx="5790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FMCG brands co-fund cashback to reach high-intent kiranas; distributors pay for qualified PO leads.</a:t>
            </a:r>
            <a:endParaRPr lang="en-US" sz="1250" dirty="0"/>
          </a:p>
        </p:txBody>
      </p:sp>
      <p:sp>
        <p:nvSpPr>
          <p:cNvPr id="30" name="Shape 24"/>
          <p:cNvSpPr/>
          <p:nvPr/>
        </p:nvSpPr>
        <p:spPr>
          <a:xfrm>
            <a:off x="5166360" y="4882896"/>
            <a:ext cx="512064" cy="512064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9255" y="5005791"/>
            <a:ext cx="266273" cy="266273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5852160" y="4864608"/>
            <a:ext cx="5790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services cross-sell</a:t>
            </a:r>
            <a:endParaRPr lang="en-US" sz="1550" dirty="0"/>
          </a:p>
        </p:txBody>
      </p:sp>
      <p:sp>
        <p:nvSpPr>
          <p:cNvPr id="33" name="Text 26"/>
          <p:cNvSpPr txBox="1"/>
          <p:nvPr/>
        </p:nvSpPr>
        <p:spPr>
          <a:xfrm>
            <a:off x="5852160" y="5157216"/>
            <a:ext cx="5790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Working-capital signals feed pre-qualified merchant loans and shop insurance, a line where Paytm’s distribution revenue grew 45% YoY in Q1 FY27.</a:t>
            </a:r>
            <a:endParaRPr lang="en-US" sz="1250" dirty="0"/>
          </a:p>
        </p:txBody>
      </p:sp>
      <p:sp>
        <p:nvSpPr>
          <p:cNvPr id="34" name="Text 27"/>
          <p:cNvSpPr txBox="1"/>
          <p:nvPr/>
        </p:nvSpPr>
        <p:spPr>
          <a:xfrm>
            <a:off x="5166360" y="5897880"/>
            <a:ext cx="6476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Indicative pricing, to be validated through merchant pilots.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anner_rou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9928" y="457200"/>
            <a:ext cx="3291840" cy="86993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1554480"/>
            <a:ext cx="103628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260604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Let’s make every Paytm merchant a </a:t>
            </a:r>
            <a:pPr algn="ctr" indent="0" marL="0">
              <a:buNone/>
            </a:pPr>
            <a:r>
              <a:rPr lang="en-US" sz="2000" b="1" dirty="0">
                <a:solidFill>
                  <a:srgbClr val="00B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business.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735428" y="3291840"/>
            <a:ext cx="3200400" cy="731520"/>
          </a:xfrm>
          <a:prstGeom prst="roundRect">
            <a:avLst>
              <a:gd name="adj" fmla="val 17500"/>
            </a:avLst>
          </a:prstGeom>
          <a:solidFill>
            <a:srgbClr val="0B2A5B">
              <a:alpha val="70000"/>
            </a:srgbClr>
          </a:solidFill>
          <a:ln w="12700">
            <a:solidFill>
              <a:srgbClr val="2C5A9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2735428" y="338328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Mahesh Shekokar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2735428" y="371246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55868" y="3291840"/>
            <a:ext cx="3200400" cy="731520"/>
          </a:xfrm>
          <a:prstGeom prst="roundRect">
            <a:avLst>
              <a:gd name="adj" fmla="val 17500"/>
            </a:avLst>
          </a:prstGeom>
          <a:solidFill>
            <a:srgbClr val="0B2A5B">
              <a:alpha val="70000"/>
            </a:srgbClr>
          </a:solidFill>
          <a:ln w="12700">
            <a:solidFill>
              <a:srgbClr val="2C5A9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255868" y="338328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N Sreevarsan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6255868" y="371246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4206240"/>
            <a:ext cx="10362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00B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XYZ   ·   VYAPAR COPILOT   ·   TRACK 1: MERCHANT GROWTH AI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Vyapar Copilot — Paytm Build for India AI Hackathon</dc:title>
  <dc:subject>PptxGenJS Presentation</dc:subject>
  <dc:creator>Team Xyz</dc:creator>
  <cp:lastModifiedBy>Team Xyz</cp:lastModifiedBy>
  <cp:revision>1</cp:revision>
  <dcterms:created xsi:type="dcterms:W3CDTF">2026-09-23T04:22:52Z</dcterms:created>
  <dcterms:modified xsi:type="dcterms:W3CDTF">2026-09-23T04:22:52Z</dcterms:modified>
</cp:coreProperties>
</file>